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2588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647"/>
                </a:solidFill>
              </a:defRPr>
            </a:pPr>
            <a:r>
              <a:t>Document Intelligence Platform</a:t>
            </a:r>
          </a:p>
          <a:p>
            <a:pPr>
              <a:defRPr sz="2200">
                <a:solidFill>
                  <a:srgbClr val="2A67B2"/>
                </a:solidFill>
              </a:defRPr>
            </a:pPr>
            <a:r>
              <a:t>Intelligent Document Extraction, Validation &amp; API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880360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2647"/>
                </a:solidFill>
              </a:defRPr>
            </a:pPr>
            <a:r>
              <a:t>AI Engineer Intern Technical Case Study</a:t>
            </a:r>
          </a:p>
          <a:p>
            <a:pPr>
              <a:spcAft>
                <a:spcPts val="1200"/>
              </a:spcAft>
              <a:defRPr sz="2000">
                <a:solidFill>
                  <a:srgbClr val="0F2647"/>
                </a:solidFill>
              </a:defRPr>
            </a:pPr>
            <a:r>
              <a:t>End-to-end document upload → extraction → validation → persistence → dashboard</a:t>
            </a:r>
          </a:p>
          <a:p>
            <a:pPr>
              <a:spcAft>
                <a:spcPts val="1200"/>
              </a:spcAft>
              <a:defRPr sz="2000">
                <a:solidFill>
                  <a:srgbClr val="0F2647"/>
                </a:solidFill>
              </a:defRPr>
            </a:pPr>
            <a:r>
              <a:t>Supported documents: Invoice, Balance Sheet, Profit &amp; Loss, Cash Flow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Document Intelligence Platform  |  AI Engineer Intern Technical Case Study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647"/>
                </a:solidFill>
              </a:defRPr>
            </a:pPr>
            <a:r>
              <a:t>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2647"/>
                </a:solidFill>
              </a:defRPr>
            </a:pPr>
            <a:r>
              <a:t>Convert financial documents in PDF/JPG/PNG into structured, machine-readable information.</a:t>
            </a:r>
          </a:p>
          <a:p>
            <a:pPr>
              <a:spcAft>
                <a:spcPts val="1200"/>
              </a:spcAft>
              <a:defRPr sz="2000">
                <a:solidFill>
                  <a:srgbClr val="0F2647"/>
                </a:solidFill>
              </a:defRPr>
            </a:pPr>
            <a:r>
              <a:t>Extract meaningful visible fields, comparative-period values, tables and invoice line items.</a:t>
            </a:r>
          </a:p>
          <a:p>
            <a:pPr>
              <a:spcAft>
                <a:spcPts val="1200"/>
              </a:spcAft>
              <a:defRPr sz="2000">
                <a:solidFill>
                  <a:srgbClr val="0F2647"/>
                </a:solidFill>
              </a:defRPr>
            </a:pPr>
            <a:r>
              <a:t>Validate financial relationships using deterministic arithmetic checks with configurable tolerance.</a:t>
            </a:r>
          </a:p>
          <a:p>
            <a:pPr>
              <a:spcAft>
                <a:spcPts val="1200"/>
              </a:spcAft>
              <a:defRPr sz="2000">
                <a:solidFill>
                  <a:srgbClr val="0F2647"/>
                </a:solidFill>
              </a:defRPr>
            </a:pPr>
            <a:r>
              <a:t>Expose results through REST APIs and a browser dashboard, with persistent database storage.</a:t>
            </a:r>
          </a:p>
          <a:p>
            <a:pPr>
              <a:spcAft>
                <a:spcPts val="1200"/>
              </a:spcAft>
              <a:defRPr sz="2000">
                <a:solidFill>
                  <a:srgbClr val="0F2647"/>
                </a:solidFill>
              </a:defRPr>
            </a:pPr>
            <a:r>
              <a:t>Return PASS / FAILED processing outcomes and evidence such as source text and page number.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Document Intelligence Platform  |  AI Engineer Intern Technical Case Study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647"/>
                </a:solidFill>
              </a:defRPr>
            </a:pPr>
            <a:r>
              <a:t>Solution 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1115568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Document Intelligence Platform  |  AI Engineer Intern Technical Case Study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647"/>
                </a:solidFill>
              </a:defRPr>
            </a:pPr>
            <a:r>
              <a:t>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1. Validate upload: supported type, file integrity, size and maximum 3 pages.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2. Extract text from PDFs; use OCR for image/scanned documents.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3. Send page-aware content to Gemini for structured extraction.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4. Normalize extracted numeric values while preserving original evidence.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5. Run document-type-specific financial validation.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6. Store the complete result in PostgreSQL and return structured JSON.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7. Dashboard renders metadata, fields, tables, validation and processing history.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Document Intelligence Platform  |  AI Engineer Intern Technical Case Study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647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F2647"/>
                </a:solidFill>
              </a:defRPr>
            </a:pPr>
            <a:r>
              <a:t>Backend: Python, FastAPI, Pydantic, SQLAlchemy</a:t>
            </a:r>
          </a:p>
          <a:p>
            <a:pPr>
              <a:spcAft>
                <a:spcPts val="1200"/>
              </a:spcAft>
              <a:defRPr sz="2000">
                <a:solidFill>
                  <a:srgbClr val="0F2647"/>
                </a:solidFill>
              </a:defRPr>
            </a:pPr>
            <a:r>
              <a:t>Document processing: PyMuPDF, Pillow, Tesseract OCR</a:t>
            </a:r>
          </a:p>
          <a:p>
            <a:pPr>
              <a:spcAft>
                <a:spcPts val="1200"/>
              </a:spcAft>
              <a:defRPr sz="2000">
                <a:solidFill>
                  <a:srgbClr val="0F2647"/>
                </a:solidFill>
              </a:defRPr>
            </a:pPr>
            <a:r>
              <a:t>AI extraction: Google Gemini structured-output workflow</a:t>
            </a:r>
          </a:p>
          <a:p>
            <a:pPr>
              <a:spcAft>
                <a:spcPts val="1200"/>
              </a:spcAft>
              <a:defRPr sz="2000">
                <a:solidFill>
                  <a:srgbClr val="0F2647"/>
                </a:solidFill>
              </a:defRPr>
            </a:pPr>
            <a:r>
              <a:t>Database: Neon PostgreSQL</a:t>
            </a:r>
          </a:p>
          <a:p>
            <a:pPr>
              <a:spcAft>
                <a:spcPts val="1200"/>
              </a:spcAft>
              <a:defRPr sz="2000">
                <a:solidFill>
                  <a:srgbClr val="0F2647"/>
                </a:solidFill>
              </a:defRPr>
            </a:pPr>
            <a:r>
              <a:t>Frontend: HTML, CSS, JavaScript</a:t>
            </a:r>
          </a:p>
          <a:p>
            <a:pPr>
              <a:spcAft>
                <a:spcPts val="1200"/>
              </a:spcAft>
              <a:defRPr sz="2000">
                <a:solidFill>
                  <a:srgbClr val="0F2647"/>
                </a:solidFill>
              </a:defRPr>
            </a:pPr>
            <a:r>
              <a:t>Deployment: Render Web Service + Docker</a:t>
            </a:r>
          </a:p>
          <a:p>
            <a:pPr>
              <a:spcAft>
                <a:spcPts val="1200"/>
              </a:spcAft>
              <a:defRPr sz="2000">
                <a:solidFill>
                  <a:srgbClr val="0F2647"/>
                </a:solidFill>
              </a:defRPr>
            </a:pPr>
            <a:r>
              <a:t>API documentation: FastAPI Swagger / OpenAPI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Document Intelligence Platform  |  AI Engineer Intern Technical Case Study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647"/>
                </a:solidFill>
              </a:defRPr>
            </a:pPr>
            <a:r>
              <a:t>Production Demo — Successful Extraction</a:t>
            </a:r>
          </a:p>
        </p:txBody>
      </p:sp>
      <p:pic>
        <p:nvPicPr>
          <p:cNvPr id="3" name="Picture 2" descr="31_final_output_profit_loss_201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556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Document Intelligence Platform  |  AI Engineer Intern Technical Case Study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647"/>
                </a:solidFill>
              </a:defRPr>
            </a:pPr>
            <a:r>
              <a:t>Structured Extraction &amp; Evidence</a:t>
            </a:r>
          </a:p>
        </p:txBody>
      </p:sp>
      <p:pic>
        <p:nvPicPr>
          <p:cNvPr id="3" name="Picture 2" descr="31_final_output_profit_loss_2018_extracted_field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11155680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Document Intelligence Platform  |  AI Engineer Intern Technical Case Study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647"/>
                </a:solidFill>
              </a:defRPr>
            </a:pPr>
            <a:r>
              <a:t>Tables &amp; Financial Validation</a:t>
            </a:r>
          </a:p>
        </p:txBody>
      </p:sp>
      <p:pic>
        <p:nvPicPr>
          <p:cNvPr id="3" name="Picture 2" descr="31_final_output_profit_loss_2018_extracted_table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155680" cy="2560320"/>
          </a:xfrm>
          <a:prstGeom prst="rect">
            <a:avLst/>
          </a:prstGeom>
        </p:spPr>
      </p:pic>
      <p:pic>
        <p:nvPicPr>
          <p:cNvPr id="4" name="Picture 3" descr="31_final_output_profit_loss_2018_financial_validation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0"/>
            <a:ext cx="11155680" cy="2331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Document Intelligence Platform  |  AI Engineer Intern Technical Case Study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647"/>
                </a:solidFill>
              </a:defRPr>
            </a:pPr>
            <a:r>
              <a:t>Persistence &amp; API</a:t>
            </a:r>
          </a:p>
        </p:txBody>
      </p:sp>
      <p:pic>
        <p:nvPicPr>
          <p:cNvPr id="3" name="Picture 2" descr="31_final_output_profit_loss_2018_processing_history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55680" cy="3246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617720"/>
            <a:ext cx="10789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F2647"/>
                </a:solidFill>
              </a:defRPr>
            </a:pPr>
            <a:r>
              <a:t>Persistent processing history is stored in Neon PostgreSQL.</a:t>
            </a:r>
          </a:p>
          <a:p>
            <a:pPr>
              <a:spcAft>
                <a:spcPts val="1200"/>
              </a:spcAft>
              <a:defRPr sz="1500">
                <a:solidFill>
                  <a:srgbClr val="0F2647"/>
                </a:solidFill>
              </a:defRPr>
            </a:pPr>
            <a:r>
              <a:t>Public REST endpoints support processing, listing, retrieval by document name and health checks.</a:t>
            </a:r>
          </a:p>
          <a:p>
            <a:pPr>
              <a:spcAft>
                <a:spcPts val="1200"/>
              </a:spcAft>
              <a:defRPr sz="1500">
                <a:solidFill>
                  <a:srgbClr val="0F2647"/>
                </a:solidFill>
              </a:defRPr>
            </a:pPr>
            <a:r>
              <a:t>Swagger/OpenAPI is publicly available on the deployed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Document Intelligence Platform  |  AI Engineer Intern Technical Case Study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647"/>
                </a:solidFill>
              </a:defRPr>
            </a:pPr>
            <a:r>
              <a:t>Validation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Invoice: quantity × unit price, line-total reconciliation, tax/total arithmetic.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Balance Sheet: assets vs liabilities + equity and component reconciliations.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Profit &amp; Loss: income/expenditure reconciliations for each comparative period.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Cash Flow: operating + investing + financing + FX reconciliation and opening/closing cash.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Missing required inputs produce NOT_APPLICABLE rather than assumptions.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Tolerance is configurable through FINANCIAL_TOLERANCE.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Document Intelligence Platform  |  AI Engineer Intern Technical Case Study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647"/>
                </a:solidFill>
              </a:defRPr>
            </a:pPr>
            <a:r>
              <a:t>Testing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Automated test suite: 18 passed, 3 skipped (direct Gemini tests skipped after free-tier quota exhaustion).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Validated file handling, extraction schema, OCR, financial calculations, database operations and document service flow.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Production PASS flow verified with Consolidated Profit &amp; Loss 2018.pdf.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Production persistence and retrieval verified through Processing History and View.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AI provider fallback is implemented for Gemini model availability/quota failures.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Document Intelligence Platform  |  AI Engineer Intern Technical Case Study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647"/>
                </a:solidFill>
              </a:defRPr>
            </a:pPr>
            <a:r>
              <a:t>Deployment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Frontend and API are publicly deployed through a Render Web Service.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Docker image includes Tesseract OCR for production image/scanned-document support.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Neon PostgreSQL provides persistent cloud storage.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Secrets are supplied through environment variables and excluded from Git.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Configuration is externalized through environment variables and .env.example.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Free-tier instances may sleep after inactivity, increasing the first-request latency.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Document Intelligence Platform  |  AI Engineer Intern Technical Case Study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647"/>
                </a:solidFill>
              </a:defRPr>
            </a:pPr>
            <a:r>
              <a:t>Limitations &amp; Production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Current LLM extraction depends on external model availability and quotas.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Longer documents are intentionally limited to 3 pages by the case-study requirement.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Production scaling would benefit from asynchronous job queues for long-running OCR/LLM processing.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Add stronger model-provider redundancy, retries with backoff and observability/metrics.</a:t>
            </a:r>
          </a:p>
          <a:p>
            <a:pPr>
              <a:spcAft>
                <a:spcPts val="1200"/>
              </a:spcAft>
              <a:defRPr sz="1800">
                <a:solidFill>
                  <a:srgbClr val="0F2647"/>
                </a:solidFill>
              </a:defRPr>
            </a:pPr>
            <a:r>
              <a:t>Add authentication, rate limiting, object storage and versioned document/result management for production.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Document Intelligence Platform  |  AI Engineer Intern Technical Case Study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647"/>
                </a:solidFill>
              </a:defRPr>
            </a:pPr>
            <a:r>
              <a:t>AI Coding Assistant Declaration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0F2647"/>
                </a:solidFill>
              </a:defRPr>
            </a:pPr>
            <a:r>
              <a:t>AI assistance: ChatGPT was used during development for code generation, debugging, architecture guidance, test support and documentation drafting.</a:t>
            </a:r>
          </a:p>
          <a:p>
            <a:pPr>
              <a:spcAft>
                <a:spcPts val="1200"/>
              </a:spcAft>
              <a:defRPr sz="1900">
                <a:solidFill>
                  <a:srgbClr val="0F2647"/>
                </a:solidFill>
              </a:defRPr>
            </a:pPr>
            <a:r>
              <a:t>All generated code was reviewed, executed, tested and modified as required.</a:t>
            </a:r>
          </a:p>
          <a:p>
            <a:pPr>
              <a:spcAft>
                <a:spcPts val="1200"/>
              </a:spcAft>
              <a:defRPr sz="1900">
                <a:solidFill>
                  <a:srgbClr val="0F2647"/>
                </a:solidFill>
              </a:defRPr>
            </a:pPr>
            <a:r>
              <a:t>The final implementation was validated through automated tests and live production verification.</a:t>
            </a:r>
          </a:p>
          <a:p>
            <a:pPr>
              <a:spcAft>
                <a:spcPts val="1200"/>
              </a:spcAft>
              <a:defRPr sz="1900">
                <a:solidFill>
                  <a:srgbClr val="0F2647"/>
                </a:solidFill>
              </a:defRPr>
            </a:pPr>
            <a:r>
              <a:t>The developer retains responsibility for understanding the implementation and explaining design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Document Intelligence Platform  |  AI Engineer Intern Technical Case Study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F2647"/>
                </a:solidFill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2A67B2"/>
                </a:solidFill>
              </a:defRPr>
            </a:pPr>
            <a:r>
              <a:t>Document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Document Intelligence Platform  |  AI Engineer Intern Technical Case Study  |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