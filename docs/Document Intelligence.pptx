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73AA16-4DDC-4103-9145-6B93E73A0EB5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68DB99-8456-4661-811B-3FA890CBB7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28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68DB99-8456-4661-811B-3FA890CBB72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2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493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171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770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95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678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10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70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70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77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70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E0B6665-B3C1-49FA-A66B-F363C256CFE4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1C6ED6C-6C0F-4770-89A0-3D38F684CDB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5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0193-1057-D5EB-5553-B53B594FE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sz="5300" b="1" dirty="0"/>
              <a:t>Intelligent Document Extraction, Validation &amp; API Platform</a:t>
            </a:r>
            <a:br>
              <a:rPr lang="en-IN" sz="5300" b="1" dirty="0"/>
            </a:br>
            <a:r>
              <a:rPr lang="en-IN" sz="5300" b="1" dirty="0"/>
              <a:t>AI Engineer Intern Technical Case Study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AE083-D4DB-DA8B-D6EC-463CD72F7A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End-to-End AI Platform for Financial Document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211428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9F81-5395-2630-770E-ED3DC6F6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3" y="594852"/>
            <a:ext cx="12005187" cy="734470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2D703-A30B-EB7A-B2FB-AE912B9E2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813" y="1976284"/>
            <a:ext cx="11916697" cy="4513006"/>
          </a:xfrm>
        </p:spPr>
        <p:txBody>
          <a:bodyPr/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Financial documents such as invoices and financial statements are commonly received as PDFs or images with different layouts, tables and reporting periods.</a:t>
            </a:r>
          </a:p>
          <a:p>
            <a:r>
              <a:rPr lang="en-IN" dirty="0"/>
              <a:t>Manual extraction and validation can be: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Time-consuming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Error-prone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Difficult to standardize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Challenging for downstream financial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9803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75BE-5C0E-57D8-0B2F-4C38A3ECF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55848"/>
            <a:ext cx="10058400" cy="1450757"/>
          </a:xfrm>
        </p:spPr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4D7AA-C0AB-8F8D-0771-4832251E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845733"/>
            <a:ext cx="11887200" cy="4269931"/>
          </a:xfrm>
        </p:spPr>
        <p:txBody>
          <a:bodyPr/>
          <a:lstStyle/>
          <a:p>
            <a:r>
              <a:rPr lang="en-IN" dirty="0"/>
              <a:t>Build an end-to-end platform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Accepts PDF/JPG/PNG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Validates uploaded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Extracts meaningful information using OCR +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Produces structured 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Performs financial calculations and reconciliation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Stores processing results persistently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a dashboard and REST API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585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4FF67-5AD1-60D3-0BC6-52CF21C1F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0774"/>
            <a:ext cx="10058400" cy="917871"/>
          </a:xfrm>
        </p:spPr>
        <p:txBody>
          <a:bodyPr/>
          <a:lstStyle/>
          <a:p>
            <a:r>
              <a:rPr lang="en-IN" dirty="0"/>
              <a:t>Requirements &amp; Supported Documents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89328F-929C-913B-D659-BC4B0C30A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5924292"/>
              </p:ext>
            </p:extLst>
          </p:nvPr>
        </p:nvGraphicFramePr>
        <p:xfrm>
          <a:off x="811828" y="2102035"/>
          <a:ext cx="10313372" cy="3207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6686">
                  <a:extLst>
                    <a:ext uri="{9D8B030D-6E8A-4147-A177-3AD203B41FA5}">
                      <a16:colId xmlns:a16="http://schemas.microsoft.com/office/drawing/2014/main" val="184672013"/>
                    </a:ext>
                  </a:extLst>
                </a:gridCol>
                <a:gridCol w="5156686">
                  <a:extLst>
                    <a:ext uri="{9D8B030D-6E8A-4147-A177-3AD203B41FA5}">
                      <a16:colId xmlns:a16="http://schemas.microsoft.com/office/drawing/2014/main" val="1857132994"/>
                    </a:ext>
                  </a:extLst>
                </a:gridCol>
              </a:tblGrid>
              <a:tr h="44683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Information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968618"/>
                  </a:ext>
                </a:extLst>
              </a:tr>
              <a:tr h="771241">
                <a:tc>
                  <a:txBody>
                    <a:bodyPr/>
                    <a:lstStyle/>
                    <a:p>
                      <a:r>
                        <a:rPr lang="en-US" dirty="0"/>
                        <a:t>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Invoice details, parties, line items, subtotal, tax, 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975206"/>
                  </a:ext>
                </a:extLst>
              </a:tr>
              <a:tr h="446830">
                <a:tc>
                  <a:txBody>
                    <a:bodyPr/>
                    <a:lstStyle/>
                    <a:p>
                      <a:r>
                        <a:rPr lang="en-US" dirty="0"/>
                        <a:t>Balance Sheet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Assets, liabilities, equity,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995959"/>
                  </a:ext>
                </a:extLst>
              </a:tr>
              <a:tr h="771241">
                <a:tc>
                  <a:txBody>
                    <a:bodyPr/>
                    <a:lstStyle/>
                    <a:p>
                      <a:r>
                        <a:rPr lang="en-US" dirty="0"/>
                        <a:t>Profit and loss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Revenue, expenses, profit/loss, comparative periods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21432"/>
                  </a:ext>
                </a:extLst>
              </a:tr>
              <a:tr h="771241">
                <a:tc>
                  <a:txBody>
                    <a:bodyPr/>
                    <a:lstStyle/>
                    <a:p>
                      <a:r>
                        <a:rPr lang="en-US" dirty="0"/>
                        <a:t>Cash Flow Statement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Operating, investing, financing cash flows, opening/closing cash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911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761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D6FF5-7892-7218-AF19-D1EB9CF4A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Requirements &amp; Supported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70C07-D2D9-4D00-28D0-301C500CE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9963" y="1953889"/>
            <a:ext cx="4428450" cy="4023360"/>
          </a:xfrm>
        </p:spPr>
        <p:txBody>
          <a:bodyPr/>
          <a:lstStyle/>
          <a:p>
            <a:r>
              <a:rPr lang="en-IN" b="1" dirty="0"/>
              <a:t>Input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PDF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JPG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Maximum 3 pages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File type and Integrity validation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F21D8E0-1634-2033-E862-CFE5AFD71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8180" y="1953889"/>
            <a:ext cx="5451005" cy="4269930"/>
          </a:xfrm>
        </p:spPr>
        <p:txBody>
          <a:bodyPr/>
          <a:lstStyle/>
          <a:p>
            <a:r>
              <a:rPr lang="en-US" b="1" dirty="0"/>
              <a:t>Output</a:t>
            </a:r>
          </a:p>
          <a:p>
            <a:pPr marL="0" indent="0">
              <a:buNone/>
            </a:pPr>
            <a:r>
              <a:rPr lang="en-IN" dirty="0"/>
              <a:t>Structured JSON containing: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Line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Evidence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Financial validation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Processing status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32855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318CB-AA80-F816-B414-17E8958A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23887"/>
            <a:ext cx="10058400" cy="911450"/>
          </a:xfrm>
        </p:spPr>
        <p:txBody>
          <a:bodyPr/>
          <a:lstStyle/>
          <a:p>
            <a:r>
              <a:rPr lang="en-IN" dirty="0"/>
              <a:t>Solution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CE2A12-4D84-1810-6EAA-B92589484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067" y="1846263"/>
            <a:ext cx="7383868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26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60FF-D3E6-F471-4427-1F129610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10" y="505923"/>
            <a:ext cx="10058400" cy="748454"/>
          </a:xfrm>
        </p:spPr>
        <p:txBody>
          <a:bodyPr/>
          <a:lstStyle/>
          <a:p>
            <a:r>
              <a:rPr lang="en-IN" dirty="0"/>
              <a:t>End-to-End Processing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16C0A-85FB-CDAD-1411-6A0332E47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66" y="1846263"/>
            <a:ext cx="10369144" cy="431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0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5B6D-370C-171C-9BAD-08C748D9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14679"/>
            <a:ext cx="10058400" cy="748454"/>
          </a:xfrm>
        </p:spPr>
        <p:txBody>
          <a:bodyPr/>
          <a:lstStyle/>
          <a:p>
            <a:r>
              <a:rPr lang="en-IN" dirty="0"/>
              <a:t>AI-Based Structured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B105C-9D15-07FC-0E62-2374B43C0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3" y="1927123"/>
            <a:ext cx="11926529" cy="431619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Gemini-Based Extraction</a:t>
            </a:r>
          </a:p>
          <a:p>
            <a:r>
              <a:rPr lang="en-IN" dirty="0"/>
              <a:t>The AI extraction layer converts document content into structured data.</a:t>
            </a:r>
          </a:p>
          <a:p>
            <a:r>
              <a:rPr lang="en-IN" dirty="0"/>
              <a:t>Extracted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Document metadata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Dates and reporting periods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Parties/entries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Currency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Financial line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Invoice line items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Totals and financial values</a:t>
            </a:r>
          </a:p>
        </p:txBody>
      </p:sp>
    </p:spTree>
    <p:extLst>
      <p:ext uri="{BB962C8B-B14F-4D97-AF65-F5344CB8AC3E}">
        <p14:creationId xmlns:p14="http://schemas.microsoft.com/office/powerpoint/2010/main" val="4195454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2545-47F6-21BC-0EC8-3F12BFD6F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48928"/>
            <a:ext cx="10058400" cy="832792"/>
          </a:xfrm>
        </p:spPr>
        <p:txBody>
          <a:bodyPr/>
          <a:lstStyle/>
          <a:p>
            <a:r>
              <a:rPr lang="en-IN" dirty="0"/>
              <a:t>AI-Based Structured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8FD64-DB11-C2DC-5F21-BEAB8B522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01373"/>
            <a:ext cx="4937760" cy="3274907"/>
          </a:xfrm>
        </p:spPr>
        <p:txBody>
          <a:bodyPr/>
          <a:lstStyle/>
          <a:p>
            <a:r>
              <a:rPr lang="en-IN" b="1" dirty="0"/>
              <a:t>Evidence</a:t>
            </a:r>
          </a:p>
          <a:p>
            <a:r>
              <a:rPr lang="en-IN" dirty="0"/>
              <a:t>Each extracted field can retain: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Source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Page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Normalized numeric value</a:t>
            </a:r>
          </a:p>
          <a:p>
            <a:pPr marL="0" indent="0"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055C9-03CC-ED94-57DB-DEC57B56C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3958" y="2101373"/>
            <a:ext cx="4937760" cy="402336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Reliability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Missing values -&gt; Null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Unsupported values are </a:t>
            </a:r>
            <a:r>
              <a:rPr lang="en-IN" b="1" dirty="0"/>
              <a:t>not inferred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Extraction and financial validation are separate stages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041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2207D-37AA-604D-7390-EA98A28CF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66118"/>
            <a:ext cx="10058400" cy="748454"/>
          </a:xfrm>
        </p:spPr>
        <p:txBody>
          <a:bodyPr/>
          <a:lstStyle/>
          <a:p>
            <a:r>
              <a:rPr lang="en-IN" dirty="0"/>
              <a:t>Financial Validation Engine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396A9F-9606-AE70-710A-212F9C7EE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61" y="1846263"/>
            <a:ext cx="8455742" cy="43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4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16D2-EFAD-A181-C496-33CA538F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6" y="192598"/>
            <a:ext cx="10058400" cy="748348"/>
          </a:xfrm>
        </p:spPr>
        <p:txBody>
          <a:bodyPr/>
          <a:lstStyle/>
          <a:p>
            <a:r>
              <a:rPr lang="en-IN" dirty="0"/>
              <a:t>Production Results: All Four Documents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83F3C8-9DA8-1429-E060-B78BBC5FD3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35" y="1956619"/>
            <a:ext cx="11493910" cy="415817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72147-9F45-6D48-E689-258655465245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8323" y="1272667"/>
            <a:ext cx="5810250" cy="609600"/>
          </a:xfrm>
        </p:spPr>
        <p:txBody>
          <a:bodyPr/>
          <a:lstStyle/>
          <a:p>
            <a:r>
              <a:rPr lang="en-US" dirty="0"/>
              <a:t>Invoice_production_pass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9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9713-B317-75D1-70EA-CB551B3E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2" y="190529"/>
            <a:ext cx="10058400" cy="748454"/>
          </a:xfrm>
        </p:spPr>
        <p:txBody>
          <a:bodyPr/>
          <a:lstStyle/>
          <a:p>
            <a:r>
              <a:rPr lang="en-IN" dirty="0"/>
              <a:t>Production Results: All Four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31881-0F06-2A75-6D7E-B06721F28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248698"/>
            <a:ext cx="11198943" cy="5003854"/>
          </a:xfrm>
        </p:spPr>
        <p:txBody>
          <a:bodyPr/>
          <a:lstStyle/>
          <a:p>
            <a:r>
              <a:rPr lang="en-IN" dirty="0"/>
              <a:t>Balance Sheet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F37BE-7188-AA4C-639F-57D963305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1" y="1868129"/>
            <a:ext cx="11631563" cy="43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21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EEC87-FE58-AF48-4D47-0ED8BA114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05" y="150791"/>
            <a:ext cx="10058400" cy="748454"/>
          </a:xfrm>
        </p:spPr>
        <p:txBody>
          <a:bodyPr/>
          <a:lstStyle/>
          <a:p>
            <a:r>
              <a:rPr lang="en-IN" dirty="0"/>
              <a:t>Production Results: All Four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71E20-9700-581E-2598-1C65AE98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135219"/>
            <a:ext cx="11906865" cy="5108102"/>
          </a:xfrm>
        </p:spPr>
        <p:txBody>
          <a:bodyPr/>
          <a:lstStyle/>
          <a:p>
            <a:r>
              <a:rPr lang="en-IN" dirty="0"/>
              <a:t>Profit &amp; Loss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4449F-CB92-6117-A4D1-D0C94474E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5" y="1907458"/>
            <a:ext cx="11877370" cy="4335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85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A888-34D9-F30E-F008-2D99580BD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7" y="81609"/>
            <a:ext cx="11779046" cy="852457"/>
          </a:xfrm>
        </p:spPr>
        <p:txBody>
          <a:bodyPr/>
          <a:lstStyle/>
          <a:p>
            <a:r>
              <a:rPr lang="en-IN" dirty="0"/>
              <a:t>Production Results: All Four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FDC98-6F93-4655-B50F-5E19B0664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1219201"/>
            <a:ext cx="11779046" cy="4965290"/>
          </a:xfrm>
        </p:spPr>
        <p:txBody>
          <a:bodyPr/>
          <a:lstStyle/>
          <a:p>
            <a:r>
              <a:rPr lang="en-IN" dirty="0"/>
              <a:t>Cash Flow Statement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91163-AFE4-5F4C-33DC-E9CE48873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" y="1789471"/>
            <a:ext cx="11779046" cy="439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90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007D-D64A-7C35-9DCB-54CBDD86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700" y="88491"/>
            <a:ext cx="10058400" cy="911450"/>
          </a:xfrm>
        </p:spPr>
        <p:txBody>
          <a:bodyPr/>
          <a:lstStyle/>
          <a:p>
            <a:r>
              <a:rPr lang="en-IN" dirty="0"/>
              <a:t>Dashboard, Evidence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7C7F4-A7F3-705D-E566-91C3F1F02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5" y="1229033"/>
            <a:ext cx="11906865" cy="4876800"/>
          </a:xfrm>
        </p:spPr>
        <p:txBody>
          <a:bodyPr/>
          <a:lstStyle/>
          <a:p>
            <a:r>
              <a:rPr lang="en-IN" dirty="0"/>
              <a:t>profit_loss_extracted_fields.png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70FDB-3AD3-13EC-ED2C-3C671C26D8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20" y="1828800"/>
            <a:ext cx="11936360" cy="427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04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D15C-737A-CC8C-9DDF-A5397A52D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048" y="136449"/>
            <a:ext cx="10058400" cy="852457"/>
          </a:xfrm>
        </p:spPr>
        <p:txBody>
          <a:bodyPr/>
          <a:lstStyle/>
          <a:p>
            <a:r>
              <a:rPr lang="en-IN" dirty="0"/>
              <a:t>Dashboard, Evidence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657E-9997-0937-D164-BE8071C0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048" y="1199535"/>
            <a:ext cx="10982632" cy="4669559"/>
          </a:xfrm>
        </p:spPr>
        <p:txBody>
          <a:bodyPr/>
          <a:lstStyle/>
          <a:p>
            <a:r>
              <a:rPr lang="en-IN" dirty="0"/>
              <a:t>profit_loss_extracted_tables.png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21C6A-5094-E5F7-0503-DE2B28233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8" y="1660762"/>
            <a:ext cx="11845904" cy="453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939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9D0C-4A41-5076-7AEF-5B0433B1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09" y="162997"/>
            <a:ext cx="10058400" cy="748454"/>
          </a:xfrm>
        </p:spPr>
        <p:txBody>
          <a:bodyPr/>
          <a:lstStyle/>
          <a:p>
            <a:r>
              <a:rPr lang="en-IN" dirty="0"/>
              <a:t>Dashboard, Evidence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60065-6ACE-2036-C2BB-1C41DC8DC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130711"/>
            <a:ext cx="11975690" cy="5034116"/>
          </a:xfrm>
        </p:spPr>
        <p:txBody>
          <a:bodyPr/>
          <a:lstStyle/>
          <a:p>
            <a:r>
              <a:rPr lang="en-IN" dirty="0"/>
              <a:t>profit_loss_financial_validation.png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6F2DD-FBE3-ABC5-AD20-287107C4C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5" y="1612490"/>
            <a:ext cx="11975690" cy="458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395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D63BCF-6893-E69E-86AF-F18EA8770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12" y="373626"/>
            <a:ext cx="11464413" cy="5811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435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8BCE-108A-4BBA-7024-A28D36E0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917" y="203036"/>
            <a:ext cx="10058400" cy="862289"/>
          </a:xfrm>
        </p:spPr>
        <p:txBody>
          <a:bodyPr/>
          <a:lstStyle/>
          <a:p>
            <a:r>
              <a:rPr lang="en-IN" dirty="0"/>
              <a:t>Testing &amp;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6C46-B163-AAD5-A392-5547EBC60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652" y="1845734"/>
            <a:ext cx="5897387" cy="4309259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Automated Testing</a:t>
            </a:r>
          </a:p>
          <a:p>
            <a:r>
              <a:rPr lang="en-IN" b="1" dirty="0"/>
              <a:t>18 tests passed</a:t>
            </a:r>
            <a:endParaRPr lang="en-IN" dirty="0"/>
          </a:p>
          <a:p>
            <a:r>
              <a:rPr lang="en-IN" b="1" dirty="0"/>
              <a:t>3 direct Gemini tests skipped</a:t>
            </a:r>
            <a:endParaRPr lang="en-IN" dirty="0"/>
          </a:p>
          <a:p>
            <a:r>
              <a:rPr lang="en-IN" dirty="0"/>
              <a:t>The skipped tests were due to the Gemini free-tier quota being exhausted.</a:t>
            </a:r>
          </a:p>
          <a:p>
            <a:r>
              <a:rPr lang="en-IN" b="1" dirty="0"/>
              <a:t>Testing Areas</a:t>
            </a:r>
          </a:p>
          <a:p>
            <a:pPr lvl="0"/>
            <a:r>
              <a:rPr lang="en-IN" dirty="0"/>
              <a:t>File validation </a:t>
            </a:r>
          </a:p>
          <a:p>
            <a:pPr lvl="0"/>
            <a:r>
              <a:rPr lang="en-IN" dirty="0"/>
              <a:t>Extraction schemas </a:t>
            </a:r>
          </a:p>
          <a:p>
            <a:pPr lvl="0"/>
            <a:r>
              <a:rPr lang="en-IN" dirty="0"/>
              <a:t>OCR </a:t>
            </a:r>
          </a:p>
          <a:p>
            <a:pPr lvl="0"/>
            <a:r>
              <a:rPr lang="en-IN" dirty="0"/>
              <a:t>Financial calculations </a:t>
            </a:r>
          </a:p>
          <a:p>
            <a:pPr lvl="0"/>
            <a:r>
              <a:rPr lang="en-IN" dirty="0"/>
              <a:t>Database behaviour </a:t>
            </a:r>
          </a:p>
          <a:p>
            <a:pPr lvl="0"/>
            <a:r>
              <a:rPr lang="en-IN" dirty="0"/>
              <a:t>Document service </a:t>
            </a:r>
          </a:p>
          <a:p>
            <a:pPr lvl="0"/>
            <a:r>
              <a:rPr lang="en-IN" dirty="0"/>
              <a:t>API flow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BF780-1689-CF99-E9C8-3B46474C2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5836428" cy="437808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Real Document Testing</a:t>
            </a:r>
          </a:p>
          <a:p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6B8497-C6E0-CCAD-3C23-B4D921818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87089"/>
              </p:ext>
            </p:extLst>
          </p:nvPr>
        </p:nvGraphicFramePr>
        <p:xfrm>
          <a:off x="6217920" y="2504705"/>
          <a:ext cx="5433306" cy="3080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6653">
                  <a:extLst>
                    <a:ext uri="{9D8B030D-6E8A-4147-A177-3AD203B41FA5}">
                      <a16:colId xmlns:a16="http://schemas.microsoft.com/office/drawing/2014/main" val="3857920473"/>
                    </a:ext>
                  </a:extLst>
                </a:gridCol>
                <a:gridCol w="2716653">
                  <a:extLst>
                    <a:ext uri="{9D8B030D-6E8A-4147-A177-3AD203B41FA5}">
                      <a16:colId xmlns:a16="http://schemas.microsoft.com/office/drawing/2014/main" val="2753738811"/>
                    </a:ext>
                  </a:extLst>
                </a:gridCol>
              </a:tblGrid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839246"/>
                  </a:ext>
                </a:extLst>
              </a:tr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Invoice — batch3-1354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338138"/>
                  </a:ext>
                </a:extLst>
              </a:tr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Invoice — batch2-0499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❌ FAIL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35900"/>
                  </a:ext>
                </a:extLst>
              </a:tr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Balance 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333372"/>
                  </a:ext>
                </a:extLst>
              </a:tr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 &amp;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766628"/>
                  </a:ext>
                </a:extLst>
              </a:tr>
              <a:tr h="513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Cash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406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638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2485702-DA71-AF9E-2F0F-45890102C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63794"/>
            <a:ext cx="10058400" cy="832792"/>
          </a:xfrm>
        </p:spPr>
        <p:txBody>
          <a:bodyPr/>
          <a:lstStyle/>
          <a:p>
            <a:r>
              <a:rPr lang="en-IN" dirty="0"/>
              <a:t>Deployment &amp; Security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26EC502-5A7C-CC8E-7398-8FF73F346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55" y="1845734"/>
            <a:ext cx="5926884" cy="4309260"/>
          </a:xfrm>
        </p:spPr>
        <p:txBody>
          <a:bodyPr/>
          <a:lstStyle/>
          <a:p>
            <a:r>
              <a:rPr lang="en-IN" b="1" dirty="0"/>
              <a:t>Deployment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Dockerized backend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Deployed on Render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Public frontend/dashboard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Public REST API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Swagger/OpenAPI available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PostgreSQL/Neon persistent database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GitHub repository connected to deployment</a:t>
            </a: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A571F1-E45B-F045-CCD9-272384B8BB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845734"/>
            <a:ext cx="5620119" cy="4309259"/>
          </a:xfrm>
        </p:spPr>
        <p:txBody>
          <a:bodyPr/>
          <a:lstStyle/>
          <a:p>
            <a:r>
              <a:rPr lang="en-IN" b="1" dirty="0"/>
              <a:t>Security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API keys stored as environment variables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.env excluded from Git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.</a:t>
            </a:r>
            <a:r>
              <a:rPr lang="en-IN" dirty="0" err="1"/>
              <a:t>env.example</a:t>
            </a:r>
            <a:r>
              <a:rPr lang="en-IN" dirty="0"/>
              <a:t> contains placeholders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Uploaded files excluded from repository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No secrets hardcoded in source code</a:t>
            </a:r>
          </a:p>
          <a:p>
            <a:pPr marL="0" indent="0">
              <a:buNone/>
            </a:pPr>
            <a:r>
              <a:rPr lang="en-IN" b="1" dirty="0"/>
              <a:t>Production URL:</a:t>
            </a:r>
          </a:p>
          <a:p>
            <a:pPr marL="0" indent="0">
              <a:buNone/>
            </a:pPr>
            <a:r>
              <a:rPr lang="en-IN" dirty="0"/>
              <a:t>https://document-intelligence-platform-hjzp.onrender.com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27285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4518E-C0A6-07B9-8354-11B7C340E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99" y="535859"/>
            <a:ext cx="10058400" cy="748455"/>
          </a:xfrm>
        </p:spPr>
        <p:txBody>
          <a:bodyPr/>
          <a:lstStyle/>
          <a:p>
            <a:r>
              <a:rPr lang="en-IN" dirty="0"/>
              <a:t>Limitations &amp; Production Improvements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4CEE7-E403-C9CD-D210-F6AC12DAA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987" y="1845734"/>
            <a:ext cx="5917052" cy="433875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Current Limitations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OCR accuracy can vary with image quality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Complex/unusual layouts may affect extraction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LLM free-tier quotas can restrict requests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Synchronous processing can increase response time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Current system does not automatically classify document type</a:t>
            </a:r>
          </a:p>
          <a:p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4703A1-E2A8-0738-AE47-AD6F47C7F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19" y="1845734"/>
            <a:ext cx="5787267" cy="433875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Production Improvements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Managed OCR / document intelligence services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Multi-provider model routing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Asynchronous processing with queues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Human review for low-confidence extraction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Authentication and role-based access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Rate limiting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Audit trails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Expanded regression dataset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Extraction accuracy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100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6750-BF88-80BC-4A10-6009666B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12" y="427263"/>
            <a:ext cx="10058400" cy="748455"/>
          </a:xfrm>
        </p:spPr>
        <p:txBody>
          <a:bodyPr/>
          <a:lstStyle/>
          <a:p>
            <a:r>
              <a:rPr lang="en-IN" dirty="0"/>
              <a:t>AI Assistance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67E79-9074-E72A-F701-BB8B399EDD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323" y="1845733"/>
            <a:ext cx="5936716" cy="4348589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AI Assistance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Used AI coding assistance during development.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AI was used for code generation, debugging, documentation, and refinement.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All generated code was reviewed, modified, tested, and integrated manually.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Final implementation and technical decisions were validated through testing and production deployment.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IN" sz="1400" dirty="0"/>
          </a:p>
          <a:p>
            <a:r>
              <a:rPr lang="en-IN" b="1" dirty="0"/>
              <a:t>Developer Responsibility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400" dirty="0"/>
              <a:t>All generated suggestions were: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Reviewed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Modified where required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Tested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sz="1400" dirty="0"/>
              <a:t>Integrated into the final application</a:t>
            </a:r>
          </a:p>
          <a:p>
            <a:pPr marL="0" lvl="0" indent="0">
              <a:buNone/>
            </a:pPr>
            <a:endParaRPr lang="en-IN" sz="1400" dirty="0"/>
          </a:p>
          <a:p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D4957-5526-CC48-0D9E-2CE7DF5B5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7920" y="1845734"/>
            <a:ext cx="5757770" cy="4348587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Final Outcome</a:t>
            </a:r>
          </a:p>
          <a:p>
            <a:r>
              <a:rPr lang="en-IN" b="1" dirty="0"/>
              <a:t>A deployed end-to-end document intelligence platform capable of extracting, validating, storing and exposing structured financial document data through a dashboard and REST API.</a:t>
            </a:r>
          </a:p>
          <a:p>
            <a:endParaRPr lang="en-IN" b="1" dirty="0"/>
          </a:p>
          <a:p>
            <a:r>
              <a:rPr lang="en-IN" b="1" dirty="0"/>
              <a:t>Conclusion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End-to-end document intelligence platform successfully implemented.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Supports all four required financial document types.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Provides structured extraction, financial validation, persistent storage, REST APIs, and dashboard visualization.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Deployed publicly with Swagger/OpenAPI documentation.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89145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2EEC9126-E53B-4A95-BCFD-5D3B1E362E4C}" vid="{B7FE7717-C1CE-4A6B-A146-13DE3016A0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64</TotalTime>
  <Words>715</Words>
  <Application>Microsoft Office PowerPoint</Application>
  <PresentationFormat>Widescreen</PresentationFormat>
  <Paragraphs>170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Theme1</vt:lpstr>
      <vt:lpstr>Intelligent Document Extraction, Validation &amp; API Platform AI Engineer Intern Technical Case Study </vt:lpstr>
      <vt:lpstr>Problem Statement</vt:lpstr>
      <vt:lpstr>Objective</vt:lpstr>
      <vt:lpstr>Requirements &amp; Supported Documents</vt:lpstr>
      <vt:lpstr>Requirements &amp; Supported Documents</vt:lpstr>
      <vt:lpstr>Solution Architecture</vt:lpstr>
      <vt:lpstr>End-to-End Processing Workflow</vt:lpstr>
      <vt:lpstr>AI-Based Structured Extraction</vt:lpstr>
      <vt:lpstr>AI-Based Structured Extraction</vt:lpstr>
      <vt:lpstr>Financial Validation Engine</vt:lpstr>
      <vt:lpstr>Production Results: All Four Documents</vt:lpstr>
      <vt:lpstr>Production Results: All Four Documents</vt:lpstr>
      <vt:lpstr>Production Results: All Four Documents</vt:lpstr>
      <vt:lpstr>Production Results: All Four Documents</vt:lpstr>
      <vt:lpstr>Dashboard, Evidence &amp; Validation</vt:lpstr>
      <vt:lpstr>Dashboard, Evidence &amp; Validation</vt:lpstr>
      <vt:lpstr>Dashboard, Evidence &amp; Validation</vt:lpstr>
      <vt:lpstr>PowerPoint Presentation</vt:lpstr>
      <vt:lpstr>Testing &amp; Reliability</vt:lpstr>
      <vt:lpstr>Deployment &amp; Security</vt:lpstr>
      <vt:lpstr>Limitations &amp; Production Improvements</vt:lpstr>
      <vt:lpstr>AI Assistance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shreyas.karanjkar2000@gmail.com</dc:creator>
  <cp:lastModifiedBy>shreyas.karanjkar2000@gmail.com</cp:lastModifiedBy>
  <cp:revision>7</cp:revision>
  <dcterms:created xsi:type="dcterms:W3CDTF">2026-09-12T04:12:37Z</dcterms:created>
  <dcterms:modified xsi:type="dcterms:W3CDTF">2026-09-12T05:17:29Z</dcterms:modified>
</cp:coreProperties>
</file>